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7C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058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7CFCB"/>
                </a:solidFill>
                <a:latin typeface="Aptos"/>
              </a:defRPr>
            </a:pPr>
            <a:r>
              <a:t>COMPUTER VISION  /  ANNOTATION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9144000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5400" b="1">
                <a:solidFill>
                  <a:srgbClr val="F5F9FF"/>
                </a:solidFill>
                <a:latin typeface="Aptos"/>
              </a:defRPr>
            </a:pPr>
            <a:r>
              <a:t>TRACKING</a:t>
            </a:r>
          </a:p>
          <a:p>
            <a:pPr>
              <a:spcAft>
                <a:spcPts val="800"/>
              </a:spcAft>
              <a:defRPr sz="5400" b="1">
                <a:solidFill>
                  <a:srgbClr val="F5F9FF"/>
                </a:solidFill>
                <a:latin typeface="Aptos"/>
              </a:defRPr>
            </a:pPr>
            <a:r>
              <a:t>QA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914400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A2B5CC"/>
                </a:solidFill>
                <a:latin typeface="Aptos"/>
              </a:defRPr>
            </a:pPr>
            <a:r>
              <a:t>Phát hiện bất thường trong dữ liệu gán nhãn</a:t>
            </a:r>
          </a:p>
          <a:p>
            <a:pPr>
              <a:spcAft>
                <a:spcPts val="800"/>
              </a:spcAft>
              <a:defRPr sz="2400" b="0">
                <a:solidFill>
                  <a:srgbClr val="A2B5CC"/>
                </a:solidFill>
                <a:latin typeface="Aptos"/>
              </a:defRPr>
            </a:pPr>
            <a:r>
              <a:t>Multi-Object Tracking 2D &amp; 3D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257800"/>
            <a:ext cx="5120640" cy="530352"/>
          </a:xfrm>
          <a:prstGeom prst="roundRect">
            <a:avLst/>
          </a:prstGeom>
          <a:solidFill>
            <a:srgbClr val="2E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5358384"/>
            <a:ext cx="475488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t>CVAT  •  BDD100K  •  nuScenes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17920"/>
            <a:ext cx="91440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A2B5CC"/>
                </a:solidFill>
                <a:latin typeface="Aptos"/>
              </a:defRPr>
            </a:pPr>
            <a:r>
              <a:t>Repository: github.com/danh2902/tracking_tool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548640" cy="54864"/>
          </a:xfrm>
          <a:prstGeom prst="rect">
            <a:avLst/>
          </a:prstGeom>
          <a:solidFill>
            <a:srgbClr val="27C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84632"/>
            <a:ext cx="10058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7CFCB"/>
                </a:solidFill>
                <a:latin typeface="Aptos"/>
              </a:defRPr>
            </a:pPr>
            <a:r>
              <a:t>01 /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41832"/>
            <a:ext cx="109728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5F9FF"/>
                </a:solidFill>
                <a:latin typeface="Aptos"/>
              </a:defRPr>
            </a:pPr>
            <a:r>
              <a:t>Bài toán: QA tracking vẫn tốn công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374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83680"/>
            <a:ext cx="73152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2B5CC"/>
                </a:solidFill>
                <a:latin typeface="Aptos"/>
              </a:defRPr>
            </a:pPr>
            <a:r>
              <a:t>TRACKING QA TOOL  •  PITCH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47104"/>
            <a:ext cx="4572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A2B5C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3520440" cy="3108960"/>
          </a:xfrm>
          <a:prstGeom prst="roundRect">
            <a:avLst/>
          </a:prstGeom>
          <a:solidFill>
            <a:srgbClr val="17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74519"/>
            <a:ext cx="54864" cy="3108960"/>
          </a:xfrm>
          <a:prstGeom prst="rect">
            <a:avLst/>
          </a:prstGeom>
          <a:solidFill>
            <a:srgbClr val="27C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103120"/>
            <a:ext cx="3063240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F5F9FF"/>
                </a:solidFill>
                <a:latin typeface="Aptos"/>
              </a:defRPr>
            </a:pPr>
            <a:r>
              <a:t>ID SWITCH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97479"/>
            <a:ext cx="3017520" cy="214883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2B5CC"/>
                </a:solidFill>
                <a:latin typeface="Aptos"/>
              </a:defRPr>
            </a:pPr>
            <a:r>
              <a:t>Hai đối tượng bị hoán đổi danh tính trong chuỗi frame.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1874519"/>
            <a:ext cx="3520440" cy="3108960"/>
          </a:xfrm>
          <a:prstGeom prst="roundRect">
            <a:avLst/>
          </a:prstGeom>
          <a:solidFill>
            <a:srgbClr val="17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4256" y="1874519"/>
            <a:ext cx="54864" cy="3108960"/>
          </a:xfrm>
          <a:prstGeom prst="rect">
            <a:avLst/>
          </a:prstGeom>
          <a:solidFill>
            <a:srgbClr val="F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2103120"/>
            <a:ext cx="3063240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F5F9FF"/>
                </a:solidFill>
                <a:latin typeface="Aptos"/>
              </a:defRPr>
            </a:pPr>
            <a:r>
              <a:t>FRAGMENTATION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2697479"/>
            <a:ext cx="3017520" cy="214883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2B5CC"/>
                </a:solidFill>
                <a:latin typeface="Aptos"/>
              </a:defRPr>
            </a:pPr>
            <a:r>
              <a:t>Một quỹ đạo bị ngắt và tiếp tục với ID khác.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874519"/>
            <a:ext cx="3520440" cy="3108960"/>
          </a:xfrm>
          <a:prstGeom prst="roundRect">
            <a:avLst/>
          </a:prstGeom>
          <a:solidFill>
            <a:srgbClr val="17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1874519"/>
            <a:ext cx="54864" cy="3108960"/>
          </a:xfrm>
          <a:prstGeom prst="rect">
            <a:avLst/>
          </a:prstGeom>
          <a:solidFill>
            <a:srgbClr val="2E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1" y="2103120"/>
            <a:ext cx="3063240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F5F9FF"/>
                </a:solidFill>
                <a:latin typeface="Aptos"/>
              </a:defRPr>
            </a:pPr>
            <a:r>
              <a:t>BOX JUMP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2697479"/>
            <a:ext cx="3017520" cy="214883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2B5CC"/>
                </a:solidFill>
                <a:latin typeface="Aptos"/>
              </a:defRPr>
            </a:pPr>
            <a:r>
              <a:t>Bounding box thay đổi vị trí hoặc kích thước bất thường.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440680"/>
            <a:ext cx="1078992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F5F9FF"/>
                </a:solidFill>
                <a:latin typeface="Aptos"/>
              </a:defRPr>
            </a:pPr>
            <a:r>
              <a:t>Duyệt thủ công từng frame khó mở rộng khi số video và số track tăng.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548640" cy="54864"/>
          </a:xfrm>
          <a:prstGeom prst="rect">
            <a:avLst/>
          </a:prstGeom>
          <a:solidFill>
            <a:srgbClr val="27C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84632"/>
            <a:ext cx="10058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7CFCB"/>
                </a:solidFill>
                <a:latin typeface="Aptos"/>
              </a:defRPr>
            </a:pPr>
            <a:r>
              <a:t>02 /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41832"/>
            <a:ext cx="109728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5F9FF"/>
                </a:solidFill>
                <a:latin typeface="Aptos"/>
              </a:defRPr>
            </a:pPr>
            <a:r>
              <a:t>Giải pháp: cảnh báo để reviewer xác minh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374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83680"/>
            <a:ext cx="73152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2B5CC"/>
                </a:solidFill>
                <a:latin typeface="Aptos"/>
              </a:defRPr>
            </a:pPr>
            <a:r>
              <a:t>TRACKING QA TOOL  •  PITCH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47104"/>
            <a:ext cx="4572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A2B5C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2688336" cy="3291840"/>
          </a:xfrm>
          <a:prstGeom prst="roundRect">
            <a:avLst/>
          </a:prstGeom>
          <a:solidFill>
            <a:srgbClr val="17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103120"/>
            <a:ext cx="91440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27CFC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880360"/>
            <a:ext cx="228600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5F9FF"/>
                </a:solidFill>
                <a:latin typeface="Aptos"/>
              </a:defRPr>
            </a:pPr>
            <a:r>
              <a:t>Tải annotation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675887"/>
            <a:ext cx="2304288" cy="1097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2B5CC"/>
                </a:solidFill>
                <a:latin typeface="Aptos"/>
              </a:defRPr>
            </a:pPr>
            <a:r>
              <a:t>CVAT XML / BDD100K JSON / nuScenes JSON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2152" y="1874519"/>
            <a:ext cx="2688336" cy="3291840"/>
          </a:xfrm>
          <a:prstGeom prst="roundRect">
            <a:avLst/>
          </a:prstGeom>
          <a:solidFill>
            <a:srgbClr val="17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5032" y="2103120"/>
            <a:ext cx="91440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27CFC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2880360"/>
            <a:ext cx="228600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5F9FF"/>
                </a:solidFill>
                <a:latin typeface="Aptos"/>
              </a:defRPr>
            </a:pPr>
            <a:r>
              <a:t>Phân tích QA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2" y="3675887"/>
            <a:ext cx="2304288" cy="1097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2B5CC"/>
                </a:solidFill>
                <a:latin typeface="Aptos"/>
              </a:defRPr>
            </a:pPr>
            <a:r>
              <a:t>Chuyển động, ID, khoảng trống và biến động box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64224" y="1874519"/>
            <a:ext cx="2688336" cy="3291840"/>
          </a:xfrm>
          <a:prstGeom prst="roundRect">
            <a:avLst/>
          </a:prstGeom>
          <a:solidFill>
            <a:srgbClr val="17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7104" y="2103120"/>
            <a:ext cx="91440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27CFC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2880360"/>
            <a:ext cx="228600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5F9FF"/>
                </a:solidFill>
                <a:latin typeface="Aptos"/>
              </a:defRPr>
            </a:pPr>
            <a:r>
              <a:t>Xem cảnh báo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3675887"/>
            <a:ext cx="2304288" cy="1097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2B5CC"/>
                </a:solidFill>
                <a:latin typeface="Aptos"/>
              </a:defRPr>
            </a:pPr>
            <a:r>
              <a:t>Danh sách lỗi nghi vấn theo frame và Track 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26296" y="1874519"/>
            <a:ext cx="2688336" cy="3291840"/>
          </a:xfrm>
          <a:prstGeom prst="roundRect">
            <a:avLst/>
          </a:prstGeom>
          <a:solidFill>
            <a:srgbClr val="17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9176" y="2103120"/>
            <a:ext cx="91440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27CFC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9176" y="2880360"/>
            <a:ext cx="2286000" cy="56692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5F9FF"/>
                </a:solidFill>
                <a:latin typeface="Aptos"/>
              </a:defRPr>
            </a:pPr>
            <a:r>
              <a:t>Xuất báo cáo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9176" y="3675887"/>
            <a:ext cx="2304288" cy="1097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2B5CC"/>
                </a:solidFill>
                <a:latin typeface="Aptos"/>
              </a:defRPr>
            </a:pPr>
            <a:r>
              <a:t>CSV / JSON / HTML để kiểm tra lại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669280"/>
            <a:ext cx="1078992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FB950"/>
                </a:solidFill>
                <a:latin typeface="Aptos"/>
              </a:defRPr>
            </a:pPr>
            <a:r>
              <a:t>Không sửa annotation tự động  •  Không cần GPU cho phân tích annotation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548640" cy="54864"/>
          </a:xfrm>
          <a:prstGeom prst="rect">
            <a:avLst/>
          </a:prstGeom>
          <a:solidFill>
            <a:srgbClr val="27C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84632"/>
            <a:ext cx="10058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7CFCB"/>
                </a:solidFill>
                <a:latin typeface="Aptos"/>
              </a:defRPr>
            </a:pPr>
            <a:r>
              <a:t>03 /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41832"/>
            <a:ext cx="109728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5F9FF"/>
                </a:solidFill>
                <a:latin typeface="Aptos"/>
              </a:defRPr>
            </a:pPr>
            <a:r>
              <a:t>Kiến trúc hệ thống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374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83680"/>
            <a:ext cx="73152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2B5CC"/>
                </a:solidFill>
                <a:latin typeface="Aptos"/>
              </a:defRPr>
            </a:pPr>
            <a:r>
              <a:t>TRACKING QA TOOL  •  PITCH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47104"/>
            <a:ext cx="4572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A2B5C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65960"/>
            <a:ext cx="2926080" cy="960120"/>
          </a:xfrm>
          <a:prstGeom prst="roundRect">
            <a:avLst/>
          </a:prstGeom>
          <a:solidFill>
            <a:srgbClr val="17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075688"/>
            <a:ext cx="2651760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7CFC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441448"/>
            <a:ext cx="26517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5F9FF"/>
                </a:solidFill>
                <a:latin typeface="Aptos"/>
              </a:defRPr>
            </a:pPr>
            <a:r>
              <a:t>CVAT / BDD100K / nuScenes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965960"/>
            <a:ext cx="2926080" cy="960120"/>
          </a:xfrm>
          <a:prstGeom prst="roundRect">
            <a:avLst/>
          </a:prstGeom>
          <a:solidFill>
            <a:srgbClr val="17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2075688"/>
            <a:ext cx="2651760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7CFCB"/>
                </a:solidFill>
                <a:latin typeface="Aptos"/>
              </a:defRPr>
            </a:pPr>
            <a:r>
              <a:t>ADAPTER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2441448"/>
            <a:ext cx="26517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5F9FF"/>
                </a:solidFill>
                <a:latin typeface="Aptos"/>
              </a:defRPr>
            </a:pPr>
            <a:r>
              <a:t>Chuẩn hóa track, frame, box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30768" y="1965960"/>
            <a:ext cx="2926080" cy="960120"/>
          </a:xfrm>
          <a:prstGeom prst="roundRect">
            <a:avLst/>
          </a:prstGeom>
          <a:solidFill>
            <a:srgbClr val="17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2075688"/>
            <a:ext cx="2651760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7CFCB"/>
                </a:solidFill>
                <a:latin typeface="Aptos"/>
              </a:defRPr>
            </a:pPr>
            <a:r>
              <a:t>QA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441448"/>
            <a:ext cx="26517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5F9FF"/>
                </a:solidFill>
                <a:latin typeface="Aptos"/>
              </a:defRPr>
            </a:pPr>
            <a:r>
              <a:t>3 nhóm kiểm tra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343400"/>
            <a:ext cx="2926080" cy="960120"/>
          </a:xfrm>
          <a:prstGeom prst="roundRect">
            <a:avLst/>
          </a:prstGeom>
          <a:solidFill>
            <a:srgbClr val="17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6592" y="4453128"/>
            <a:ext cx="2651760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7CFCB"/>
                </a:solidFill>
                <a:latin typeface="Aptos"/>
              </a:defRPr>
            </a:pPr>
            <a:r>
              <a:t>STREAMLIT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4818888"/>
            <a:ext cx="26517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5F9FF"/>
                </a:solidFill>
                <a:latin typeface="Aptos"/>
              </a:defRPr>
            </a:pPr>
            <a:r>
              <a:t>Upload / cấu hình / kết quả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30768" y="4343400"/>
            <a:ext cx="2926080" cy="960120"/>
          </a:xfrm>
          <a:prstGeom prst="roundRect">
            <a:avLst/>
          </a:prstGeom>
          <a:solidFill>
            <a:srgbClr val="17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4453128"/>
            <a:ext cx="2651760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7CFCB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4818888"/>
            <a:ext cx="265176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5F9FF"/>
                </a:solidFill>
                <a:latin typeface="Aptos"/>
              </a:defRPr>
            </a:pPr>
            <a:r>
              <a:t>CSV / JSON / HTML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3048" y="2139696"/>
            <a:ext cx="54864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27CFC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139696"/>
            <a:ext cx="54864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27CFC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3246120"/>
            <a:ext cx="54864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27CFCB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526280"/>
            <a:ext cx="54864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27CFCB"/>
                </a:solidFill>
                <a:latin typeface="Aptos"/>
              </a:defRPr>
            </a:pPr>
            <a:r>
              <a:t>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715000"/>
            <a:ext cx="1097280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A2B5CC"/>
                </a:solidFill>
                <a:latin typeface="Aptos"/>
              </a:defRPr>
            </a:pPr>
            <a:r>
              <a:t>2D: Kalman + Mahalanobis + IoU + Hungarian  |  3D: dự đoán vận tốc không đổi và kiểm tra hình học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548640" cy="54864"/>
          </a:xfrm>
          <a:prstGeom prst="rect">
            <a:avLst/>
          </a:prstGeom>
          <a:solidFill>
            <a:srgbClr val="27C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84632"/>
            <a:ext cx="10058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7CFCB"/>
                </a:solidFill>
                <a:latin typeface="Aptos"/>
              </a:defRPr>
            </a:pPr>
            <a:r>
              <a:t>04 / COMPATIBILITY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41832"/>
            <a:ext cx="109728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5F9FF"/>
                </a:solidFill>
                <a:latin typeface="Aptos"/>
              </a:defRPr>
            </a:pPr>
            <a:r>
              <a:t>Một công cụ, nhiều hệ dữ liệu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374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83680"/>
            <a:ext cx="73152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2B5CC"/>
                </a:solidFill>
                <a:latin typeface="Aptos"/>
              </a:defRPr>
            </a:pPr>
            <a:r>
              <a:t>TRACKING QA TOOL  •  PITCH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47104"/>
            <a:ext cx="4572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A2B5C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3529584" cy="3154680"/>
          </a:xfrm>
          <a:prstGeom prst="roundRect">
            <a:avLst/>
          </a:prstGeom>
          <a:solidFill>
            <a:srgbClr val="17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74519"/>
            <a:ext cx="54864" cy="3154680"/>
          </a:xfrm>
          <a:prstGeom prst="rect">
            <a:avLst/>
          </a:prstGeom>
          <a:solidFill>
            <a:srgbClr val="2E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103120"/>
            <a:ext cx="3072384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F5F9FF"/>
                </a:solidFill>
                <a:latin typeface="Aptos"/>
              </a:defRPr>
            </a:pPr>
            <a:r>
              <a:t>CVAT VIDEO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97479"/>
            <a:ext cx="3026663" cy="2194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2B5CC"/>
                </a:solidFill>
                <a:latin typeface="Aptos"/>
              </a:defRPr>
            </a:pPr>
            <a:r>
              <a:t>XML 2D • Track ID</a:t>
            </a:r>
          </a:p>
          <a:p>
            <a:pPr>
              <a:spcAft>
                <a:spcPts val="800"/>
              </a:spcAft>
              <a:defRPr sz="1500" b="0">
                <a:solidFill>
                  <a:srgbClr val="A2B5CC"/>
                </a:solidFill>
                <a:latin typeface="Aptos"/>
              </a:defRPr>
            </a:pPr>
            <a:r>
              <a:t>Xuất annotation từ CVAT Online.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1874519"/>
            <a:ext cx="3529584" cy="3154680"/>
          </a:xfrm>
          <a:prstGeom prst="roundRect">
            <a:avLst/>
          </a:prstGeom>
          <a:solidFill>
            <a:srgbClr val="17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4256" y="1874519"/>
            <a:ext cx="54864" cy="3154680"/>
          </a:xfrm>
          <a:prstGeom prst="rect">
            <a:avLst/>
          </a:prstGeom>
          <a:solidFill>
            <a:srgbClr val="27C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2103120"/>
            <a:ext cx="3072384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F5F9FF"/>
                </a:solidFill>
                <a:latin typeface="Aptos"/>
              </a:defRPr>
            </a:pPr>
            <a:r>
              <a:t>BDD100K MOT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2697479"/>
            <a:ext cx="3026663" cy="2194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2B5CC"/>
                </a:solidFill>
                <a:latin typeface="Aptos"/>
              </a:defRPr>
            </a:pPr>
            <a:r>
              <a:t>JSON 2D • Bounding box</a:t>
            </a:r>
          </a:p>
          <a:p>
            <a:pPr>
              <a:spcAft>
                <a:spcPts val="800"/>
              </a:spcAft>
              <a:defRPr sz="1500" b="0">
                <a:solidFill>
                  <a:srgbClr val="A2B5CC"/>
                </a:solidFill>
                <a:latin typeface="Aptos"/>
              </a:defRPr>
            </a:pPr>
            <a:r>
              <a:t>Phân tích theo từng video.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874519"/>
            <a:ext cx="3529584" cy="3154680"/>
          </a:xfrm>
          <a:prstGeom prst="roundRect">
            <a:avLst/>
          </a:prstGeom>
          <a:solidFill>
            <a:srgbClr val="17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1874519"/>
            <a:ext cx="54864" cy="3154680"/>
          </a:xfrm>
          <a:prstGeom prst="rect">
            <a:avLst/>
          </a:prstGeom>
          <a:solidFill>
            <a:srgbClr val="F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1" y="2103120"/>
            <a:ext cx="3072384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F5F9FF"/>
                </a:solidFill>
                <a:latin typeface="Aptos"/>
              </a:defRPr>
            </a:pPr>
            <a:r>
              <a:t>nuScenes TRACKING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2697479"/>
            <a:ext cx="3026663" cy="2194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2B5CC"/>
                </a:solidFill>
                <a:latin typeface="Aptos"/>
              </a:defRPr>
            </a:pPr>
            <a:r>
              <a:t>JSON 3D • Vị trí / kích thước / yaw</a:t>
            </a:r>
          </a:p>
          <a:p>
            <a:pPr>
              <a:spcAft>
                <a:spcPts val="800"/>
              </a:spcAft>
              <a:defRPr sz="1500" b="0">
                <a:solidFill>
                  <a:srgbClr val="A2B5CC"/>
                </a:solidFill>
                <a:latin typeface="Aptos"/>
              </a:defRPr>
            </a:pPr>
            <a:r>
              <a:t>Cần manifest scene và timestamp.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522976"/>
            <a:ext cx="1088136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A2B5CC"/>
                </a:solidFill>
                <a:latin typeface="Aptos"/>
              </a:defRPr>
            </a:pPr>
            <a:r>
              <a:t>nuScenes: chưa hỗ trợ trực tiếp raw database; chưa triển khai IoU 3D hoặc Kalman 3D đầy đủ.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548640" cy="54864"/>
          </a:xfrm>
          <a:prstGeom prst="rect">
            <a:avLst/>
          </a:prstGeom>
          <a:solidFill>
            <a:srgbClr val="27C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84632"/>
            <a:ext cx="10058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7CFCB"/>
                </a:solidFill>
                <a:latin typeface="Aptos"/>
              </a:defRPr>
            </a:pPr>
            <a:r>
              <a:t>05 / LIVE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41832"/>
            <a:ext cx="109728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5F9FF"/>
                </a:solidFill>
                <a:latin typeface="Aptos"/>
              </a:defRPr>
            </a:pPr>
            <a:r>
              <a:t>Luồng demo MVP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374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83680"/>
            <a:ext cx="73152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2B5CC"/>
                </a:solidFill>
                <a:latin typeface="Aptos"/>
              </a:defRPr>
            </a:pPr>
            <a:r>
              <a:t>TRACKING QA TOOL  •  PITCH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47104"/>
            <a:ext cx="4572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A2B5C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10607040" cy="768096"/>
          </a:xfrm>
          <a:prstGeom prst="roundRect">
            <a:avLst/>
          </a:prstGeom>
          <a:solidFill>
            <a:srgbClr val="17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1984248"/>
            <a:ext cx="438912" cy="438912"/>
          </a:xfrm>
          <a:prstGeom prst="roundRect">
            <a:avLst/>
          </a:prstGeom>
          <a:solidFill>
            <a:srgbClr val="2E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2039112"/>
            <a:ext cx="18288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F9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1984248"/>
            <a:ext cx="201168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7CFCB"/>
                </a:solidFill>
                <a:latin typeface="Aptos"/>
              </a:defRPr>
            </a:pPr>
            <a:r>
              <a:t>UPLOAD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2011680"/>
            <a:ext cx="713232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5F9FF"/>
                </a:solidFill>
                <a:latin typeface="Aptos"/>
              </a:defRPr>
            </a:pPr>
            <a:r>
              <a:t>Chọn file annotation và manifest nếu dùng nuScenes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788920"/>
            <a:ext cx="10607040" cy="768096"/>
          </a:xfrm>
          <a:prstGeom prst="roundRect">
            <a:avLst/>
          </a:prstGeom>
          <a:solidFill>
            <a:srgbClr val="17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20" y="2944368"/>
            <a:ext cx="438912" cy="438912"/>
          </a:xfrm>
          <a:prstGeom prst="roundRect">
            <a:avLst/>
          </a:prstGeom>
          <a:solidFill>
            <a:srgbClr val="2E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6424" y="2999232"/>
            <a:ext cx="18288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F9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4208" y="2944368"/>
            <a:ext cx="201168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7CFCB"/>
                </a:solidFill>
                <a:latin typeface="Aptos"/>
              </a:defRPr>
            </a:pPr>
            <a:r>
              <a:t>CONFIGURE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5032" y="2971800"/>
            <a:ext cx="713232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5F9FF"/>
                </a:solidFill>
                <a:latin typeface="Aptos"/>
              </a:defRPr>
            </a:pPr>
            <a:r>
              <a:t>Chọn ngưỡng và loại dữ liệu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749039"/>
            <a:ext cx="10607040" cy="768096"/>
          </a:xfrm>
          <a:prstGeom prst="roundRect">
            <a:avLst/>
          </a:prstGeom>
          <a:solidFill>
            <a:srgbClr val="17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" y="3904487"/>
            <a:ext cx="438912" cy="438912"/>
          </a:xfrm>
          <a:prstGeom prst="roundRect">
            <a:avLst/>
          </a:prstGeom>
          <a:solidFill>
            <a:srgbClr val="2E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6424" y="3959352"/>
            <a:ext cx="18288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F9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3904487"/>
            <a:ext cx="201168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7CFCB"/>
                </a:solidFill>
                <a:latin typeface="Aptos"/>
              </a:defRPr>
            </a:pPr>
            <a:r>
              <a:t>RUN QA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931920"/>
            <a:ext cx="713232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5F9FF"/>
                </a:solidFill>
                <a:latin typeface="Aptos"/>
              </a:defRPr>
            </a:pPr>
            <a:r>
              <a:t>Phát hiện ID Switch / Fragment / Box Jump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709160"/>
            <a:ext cx="10607040" cy="768096"/>
          </a:xfrm>
          <a:prstGeom prst="roundRect">
            <a:avLst/>
          </a:prstGeom>
          <a:solidFill>
            <a:srgbClr val="17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0120" y="4864608"/>
            <a:ext cx="438912" cy="438912"/>
          </a:xfrm>
          <a:prstGeom prst="roundRect">
            <a:avLst/>
          </a:prstGeom>
          <a:solidFill>
            <a:srgbClr val="2E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6424" y="4919472"/>
            <a:ext cx="18288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F9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4208" y="4864608"/>
            <a:ext cx="201168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7CFCB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85032" y="4892040"/>
            <a:ext cx="713232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5F9FF"/>
                </a:solidFill>
                <a:latin typeface="Aptos"/>
              </a:defRPr>
            </a:pPr>
            <a:r>
              <a:t>Lọc cảnh báo và tải báo cáo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B950"/>
                </a:solidFill>
                <a:latin typeface="Aptos"/>
              </a:defRPr>
            </a:pPr>
            <a:r>
              <a:t>LIVE URL: [điền sau khi triển khai Streamlit Cloud]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548640" cy="54864"/>
          </a:xfrm>
          <a:prstGeom prst="rect">
            <a:avLst/>
          </a:prstGeom>
          <a:solidFill>
            <a:srgbClr val="27C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84632"/>
            <a:ext cx="10058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7CFCB"/>
                </a:solidFill>
                <a:latin typeface="Aptos"/>
              </a:defRPr>
            </a:pPr>
            <a:r>
              <a:t>06 /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41832"/>
            <a:ext cx="109728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5F9FF"/>
                </a:solidFill>
                <a:latin typeface="Aptos"/>
              </a:defRPr>
            </a:pPr>
            <a:r>
              <a:t>Tính khả thi và kiểm thử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374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83680"/>
            <a:ext cx="73152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2B5CC"/>
                </a:solidFill>
                <a:latin typeface="Aptos"/>
              </a:defRPr>
            </a:pPr>
            <a:r>
              <a:t>TRACKING QA TOOL  •  PITCH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47104"/>
            <a:ext cx="4572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A2B5CC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5212080" cy="3246120"/>
          </a:xfrm>
          <a:prstGeom prst="roundRect">
            <a:avLst/>
          </a:prstGeom>
          <a:solidFill>
            <a:srgbClr val="17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874519"/>
            <a:ext cx="54864" cy="3246120"/>
          </a:xfrm>
          <a:prstGeom prst="rect">
            <a:avLst/>
          </a:prstGeom>
          <a:solidFill>
            <a:srgbClr val="27C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4754880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F5F9FF"/>
                </a:solidFill>
                <a:latin typeface="Aptos"/>
              </a:defRPr>
            </a:pPr>
            <a:r>
              <a:t>KHẢ THI KỸ THUẬT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97479"/>
            <a:ext cx="470916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2B5CC"/>
                </a:solidFill>
                <a:latin typeface="Aptos"/>
              </a:defRPr>
            </a:pPr>
            <a:r>
              <a:t>Python • NumPy • SciPy • Streamlit</a:t>
            </a:r>
          </a:p>
          <a:p>
            <a:pPr>
              <a:spcAft>
                <a:spcPts val="800"/>
              </a:spcAft>
              <a:defRPr sz="1500" b="0">
                <a:solidFill>
                  <a:srgbClr val="A2B5CC"/>
                </a:solidFill>
                <a:latin typeface="Aptos"/>
              </a:defRPr>
            </a:pPr>
            <a:r>
              <a:t>Chạy local hoặc triển khai web</a:t>
            </a:r>
          </a:p>
          <a:p>
            <a:pPr>
              <a:spcAft>
                <a:spcPts val="800"/>
              </a:spcAft>
              <a:defRPr sz="1500" b="0">
                <a:solidFill>
                  <a:srgbClr val="A2B5CC"/>
                </a:solidFill>
                <a:latin typeface="Aptos"/>
              </a:defRPr>
            </a:pPr>
            <a:r>
              <a:t>Không yêu cầu huấn luyện model.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874519"/>
            <a:ext cx="5212080" cy="3246120"/>
          </a:xfrm>
          <a:prstGeom prst="roundRect">
            <a:avLst/>
          </a:prstGeom>
          <a:solidFill>
            <a:srgbClr val="17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874519"/>
            <a:ext cx="54864" cy="3246120"/>
          </a:xfrm>
          <a:prstGeom prst="rect">
            <a:avLst/>
          </a:prstGeom>
          <a:solidFill>
            <a:srgbClr val="2E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103120"/>
            <a:ext cx="4754880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F5F9FF"/>
                </a:solidFill>
                <a:latin typeface="Aptos"/>
              </a:defRPr>
            </a:pPr>
            <a:r>
              <a:t>KIỂM THỬ CẦN CHỨNG MINH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97479"/>
            <a:ext cx="470916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2B5CC"/>
                </a:solidFill>
                <a:latin typeface="Aptos"/>
              </a:defRPr>
            </a:pPr>
            <a:r>
              <a:t>Unit test + CLI integration</a:t>
            </a:r>
          </a:p>
          <a:p>
            <a:pPr>
              <a:spcAft>
                <a:spcPts val="800"/>
              </a:spcAft>
              <a:defRPr sz="1500" b="0">
                <a:solidFill>
                  <a:srgbClr val="A2B5CC"/>
                </a:solidFill>
                <a:latin typeface="Aptos"/>
              </a:defRPr>
            </a:pPr>
            <a:r>
              <a:t>Fixture chứa lỗi có kiểm soát</a:t>
            </a:r>
          </a:p>
          <a:p>
            <a:pPr>
              <a:spcAft>
                <a:spcPts val="800"/>
              </a:spcAft>
              <a:defRPr sz="1500" b="0">
                <a:solidFill>
                  <a:srgbClr val="A2B5CC"/>
                </a:solidFill>
                <a:latin typeface="Aptos"/>
              </a:defRPr>
            </a:pPr>
            <a:r>
              <a:t>Đánh giá Precision / Recall / F1 trên dữ liệu đã xác minh.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577840"/>
            <a:ext cx="1088136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B950"/>
                </a:solidFill>
                <a:latin typeface="Aptos"/>
              </a:defRPr>
            </a:pPr>
            <a:r>
              <a:t>Lưu ý: số cảnh báo không phải độ chính xác; cần đánh giá bằng ground truth.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548640" cy="54864"/>
          </a:xfrm>
          <a:prstGeom prst="rect">
            <a:avLst/>
          </a:prstGeom>
          <a:solidFill>
            <a:srgbClr val="27C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84632"/>
            <a:ext cx="10058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7CFCB"/>
                </a:solidFill>
                <a:latin typeface="Aptos"/>
              </a:defRPr>
            </a:pPr>
            <a:r>
              <a:t>07 /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41832"/>
            <a:ext cx="109728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5F9FF"/>
                </a:solidFill>
                <a:latin typeface="Aptos"/>
              </a:defRPr>
            </a:pPr>
            <a:r>
              <a:t>Định hướng phát triển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374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83680"/>
            <a:ext cx="73152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2B5CC"/>
                </a:solidFill>
                <a:latin typeface="Aptos"/>
              </a:defRPr>
            </a:pPr>
            <a:r>
              <a:t>TRACKING QA TOOL  •  PITCH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47104"/>
            <a:ext cx="4572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A2B5CC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65960"/>
            <a:ext cx="3520440" cy="3246120"/>
          </a:xfrm>
          <a:prstGeom prst="roundRect">
            <a:avLst/>
          </a:prstGeom>
          <a:solidFill>
            <a:srgbClr val="17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965960"/>
            <a:ext cx="54864" cy="3246120"/>
          </a:xfrm>
          <a:prstGeom prst="rect">
            <a:avLst/>
          </a:prstGeom>
          <a:solidFill>
            <a:srgbClr val="2E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94560"/>
            <a:ext cx="3063240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F5F9FF"/>
                </a:solidFill>
                <a:latin typeface="Aptos"/>
              </a:defRPr>
            </a:pPr>
            <a:r>
              <a:t>GIAI ĐOẠN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88920"/>
            <a:ext cx="301752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2B5CC"/>
                </a:solidFill>
                <a:latin typeface="Aptos"/>
              </a:defRPr>
            </a:pPr>
            <a:r>
              <a:t>Ổn định parser và ngưỡng; thêm dữ liệu kiểm thử thực tế.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965960"/>
            <a:ext cx="3520440" cy="3246120"/>
          </a:xfrm>
          <a:prstGeom prst="roundRect">
            <a:avLst/>
          </a:prstGeom>
          <a:solidFill>
            <a:srgbClr val="17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965960"/>
            <a:ext cx="54864" cy="3246120"/>
          </a:xfrm>
          <a:prstGeom prst="rect">
            <a:avLst/>
          </a:prstGeom>
          <a:solidFill>
            <a:srgbClr val="27C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194560"/>
            <a:ext cx="3063240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F5F9FF"/>
                </a:solidFill>
                <a:latin typeface="Aptos"/>
              </a:defRPr>
            </a:pPr>
            <a:r>
              <a:t>GIAI ĐOẠN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788920"/>
            <a:ext cx="301752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2B5CC"/>
                </a:solidFill>
                <a:latin typeface="Aptos"/>
              </a:defRPr>
            </a:pPr>
            <a:r>
              <a:t>Xem video/frame và overlay bounding box để review trực quan.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965960"/>
            <a:ext cx="3520440" cy="3246120"/>
          </a:xfrm>
          <a:prstGeom prst="roundRect">
            <a:avLst/>
          </a:prstGeom>
          <a:solidFill>
            <a:srgbClr val="17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1965960"/>
            <a:ext cx="54864" cy="3246120"/>
          </a:xfrm>
          <a:prstGeom prst="rect">
            <a:avLst/>
          </a:prstGeom>
          <a:solidFill>
            <a:srgbClr val="F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194560"/>
            <a:ext cx="3063240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F5F9FF"/>
                </a:solidFill>
                <a:latin typeface="Aptos"/>
              </a:defRPr>
            </a:pPr>
            <a:r>
              <a:t>GIAI ĐOẠN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788920"/>
            <a:ext cx="301752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2B5CC"/>
                </a:solidFill>
                <a:latin typeface="Aptos"/>
              </a:defRPr>
            </a:pPr>
            <a:r>
              <a:t>Tích hợp CVAT API; mở rộng 3D IoU / Kalman 3D và benchmark.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7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548640" cy="54864"/>
          </a:xfrm>
          <a:prstGeom prst="rect">
            <a:avLst/>
          </a:prstGeom>
          <a:solidFill>
            <a:srgbClr val="27C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84632"/>
            <a:ext cx="10058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7CFCB"/>
                </a:solidFill>
                <a:latin typeface="Aptos"/>
              </a:defRPr>
            </a:pPr>
            <a:r>
              <a:t>08 / 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41832"/>
            <a:ext cx="1097280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5F9FF"/>
                </a:solidFill>
                <a:latin typeface="Aptos"/>
              </a:defRPr>
            </a:pPr>
            <a:r>
              <a:t>Tracking QA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10528"/>
            <a:ext cx="10881360" cy="13716"/>
          </a:xfrm>
          <a:prstGeom prst="rect">
            <a:avLst/>
          </a:prstGeom>
          <a:solidFill>
            <a:srgbClr val="374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83680"/>
            <a:ext cx="731520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2B5CC"/>
                </a:solidFill>
                <a:latin typeface="Aptos"/>
              </a:defRPr>
            </a:pPr>
            <a:r>
              <a:t>TRACKING QA TOOL  •  PITCH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47104"/>
            <a:ext cx="457200" cy="228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A2B5CC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1069848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5F9FF"/>
                </a:solidFill>
                <a:latin typeface="Aptos"/>
              </a:defRPr>
            </a:pPr>
            <a:r>
              <a:t>Biến kiểm tra annotation từ công việc dò thủ công</a:t>
            </a:r>
          </a:p>
          <a:p>
            <a:pPr>
              <a:spcAft>
                <a:spcPts val="800"/>
              </a:spcAft>
              <a:defRPr sz="2900" b="1">
                <a:solidFill>
                  <a:srgbClr val="F5F9FF"/>
                </a:solidFill>
                <a:latin typeface="Aptos"/>
              </a:defRPr>
            </a:pPr>
            <a:r>
              <a:t>thành quy trình QA có thể lặp lại và truy vết.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10744200" cy="1033271"/>
          </a:xfrm>
          <a:prstGeom prst="roundRect">
            <a:avLst/>
          </a:prstGeom>
          <a:solidFill>
            <a:srgbClr val="17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343400"/>
            <a:ext cx="2103120" cy="3291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7CFCB"/>
                </a:solidFill>
                <a:latin typeface="Aptos"/>
              </a:defRPr>
            </a:pPr>
            <a:r>
              <a:t>SOURCE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4297680"/>
            <a:ext cx="786384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F5F9FF"/>
                </a:solidFill>
                <a:latin typeface="Aptos"/>
              </a:defRPr>
            </a:pPr>
            <a:r>
              <a:t>github.com/danh2902/tracking_tool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50992"/>
            <a:ext cx="1078992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A2B5CC"/>
                </a:solidFill>
                <a:latin typeface="Aptos"/>
              </a:defRPr>
            </a:pPr>
            <a:r>
              <a:t>Live MVP: [điền URL]     •     Video demo: [điền URL]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